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140246835" r:id="rId2"/>
    <p:sldId id="2140246812" r:id="rId3"/>
    <p:sldId id="2140246802" r:id="rId4"/>
    <p:sldId id="2140246796" r:id="rId5"/>
    <p:sldId id="2140246940" r:id="rId6"/>
    <p:sldId id="2140246941" r:id="rId7"/>
    <p:sldId id="214024693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7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15B746-05B7-49B4-B930-181195DE97DC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9754C9-C2DE-44CE-9FB2-203971E25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484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C415-3298-478D-A257-76DAAB4AB53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806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7292C-F978-6B43-CB05-703E0AE3D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72EF09-8BED-692B-5C3D-F9C3A9ED22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A33421-FAED-20E0-EBCE-2D81FC243D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we’re looking at a zoomed in and expanded version of the “Uncertain” label for experts-only, layered in with food groupings, and ordered in the same manner as the misalignment results. All of </a:t>
            </a:r>
            <a:r>
              <a:rPr lang="en-US" dirty="0" err="1"/>
              <a:t>ths</a:t>
            </a:r>
            <a:r>
              <a:rPr lang="en-US" dirty="0"/>
              <a:t> information is derived from the meta-NPS more details can be found on the previous 2 videos. </a:t>
            </a:r>
          </a:p>
          <a:p>
            <a:endParaRPr lang="en-US" dirty="0"/>
          </a:p>
          <a:p>
            <a:r>
              <a:rPr lang="en-US" dirty="0"/>
              <a:t>On the y-axis we have Health percentile as the harmonization basis across independent nutrient profiling systems. For each food, the boxplot shows the distribution of health ratings across 5 expert systems – each reflected as a point. The boxplots are colored by expert classification – uncertain is light gray, unhealthy is red, neutral is dark gray, and healthy is green.</a:t>
            </a:r>
          </a:p>
          <a:p>
            <a:endParaRPr lang="en-US" dirty="0"/>
          </a:p>
          <a:p>
            <a:r>
              <a:rPr lang="en-US" dirty="0"/>
              <a:t>So looking at this first food, 100% fruit juice, as an example, the meta-NPS is saying that experts ranked this food ranging from the 30</a:t>
            </a:r>
            <a:r>
              <a:rPr lang="en-US" baseline="30000" dirty="0"/>
              <a:t>th</a:t>
            </a:r>
            <a:r>
              <a:rPr lang="en-US" dirty="0"/>
              <a:t> the 100</a:t>
            </a:r>
            <a:r>
              <a:rPr lang="en-US" baseline="30000" dirty="0"/>
              <a:t>th</a:t>
            </a:r>
            <a:r>
              <a:rPr lang="en-US" dirty="0"/>
              <a:t> percentile of healthfulness – a difference of 70 – which is why this is food is considered as Uncertainly Healthy.  And importantly, the overall distribution of 100% juice is shifted towards being more healthy relative to fruit juice with vitamin C.</a:t>
            </a:r>
          </a:p>
          <a:p>
            <a:endParaRPr lang="en-US" dirty="0"/>
          </a:p>
          <a:p>
            <a:r>
              <a:rPr lang="en-US" dirty="0"/>
              <a:t>I really like this figure because it showcases that expert agreement is possible while </a:t>
            </a:r>
            <a:r>
              <a:rPr lang="en-US" dirty="0" err="1"/>
              <a:t>contexualizing</a:t>
            </a:r>
            <a:r>
              <a:rPr lang="en-US" dirty="0"/>
              <a:t> the extend of disagreement for these carb-rich foods. And if you recall – these more detailed food level results are aligned with our insights from the 2</a:t>
            </a:r>
            <a:r>
              <a:rPr lang="en-US" baseline="30000" dirty="0"/>
              <a:t>nd</a:t>
            </a:r>
            <a:r>
              <a:rPr lang="en-US" dirty="0"/>
              <a:t> </a:t>
            </a:r>
            <a:r>
              <a:rPr lang="en-US" dirty="0" err="1"/>
              <a:t>youtube</a:t>
            </a:r>
            <a:r>
              <a:rPr lang="en-US" dirty="0"/>
              <a:t> video showing that grains were the most problematic overall in terms of agreement.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6FD54-A7D6-9380-C79B-E1F9E2D5CD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C415-3298-478D-A257-76DAAB4AB53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4176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C4BF7-3F86-FE02-FE6C-B2A220E81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60656E-D4DF-503D-7187-8A7578F171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39D62B-A779-A907-9B4A-800A10F10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we’re looking at a zoomed in and expanded version of the “Uncertain” label for experts-only, layered in with food groupings, and ordered in the same manner as the misalignment results. All of </a:t>
            </a:r>
            <a:r>
              <a:rPr lang="en-US" dirty="0" err="1"/>
              <a:t>ths</a:t>
            </a:r>
            <a:r>
              <a:rPr lang="en-US" dirty="0"/>
              <a:t> information is derived from the meta-NPS more details can be found on the previous 2 videos. </a:t>
            </a:r>
          </a:p>
          <a:p>
            <a:endParaRPr lang="en-US" dirty="0"/>
          </a:p>
          <a:p>
            <a:r>
              <a:rPr lang="en-US" dirty="0"/>
              <a:t>On the y-axis we have Health percentile as the harmonization basis across independent nutrient profiling systems. For each food, the boxplot shows the distribution of health ratings across 5 expert systems – each reflected as a point. The boxplots are colored by expert classification – uncertain is light gray, unhealthy is red, neutral is dark gray, and healthy is green.</a:t>
            </a:r>
          </a:p>
          <a:p>
            <a:endParaRPr lang="en-US" dirty="0"/>
          </a:p>
          <a:p>
            <a:r>
              <a:rPr lang="en-US" dirty="0"/>
              <a:t>So looking at this first food, 100% fruit juice, as an example, the meta-NPS is saying that experts ranked this food ranging from the 30</a:t>
            </a:r>
            <a:r>
              <a:rPr lang="en-US" baseline="30000" dirty="0"/>
              <a:t>th</a:t>
            </a:r>
            <a:r>
              <a:rPr lang="en-US" dirty="0"/>
              <a:t> the 100</a:t>
            </a:r>
            <a:r>
              <a:rPr lang="en-US" baseline="30000" dirty="0"/>
              <a:t>th</a:t>
            </a:r>
            <a:r>
              <a:rPr lang="en-US" dirty="0"/>
              <a:t> percentile of healthfulness – a difference of 70 – which is why this is food is considered as Uncertainly Healthy.  And importantly, the overall distribution of 100% juice is shifted towards being more healthy relative to fruit juice with vitamin C.</a:t>
            </a:r>
          </a:p>
          <a:p>
            <a:endParaRPr lang="en-US" dirty="0"/>
          </a:p>
          <a:p>
            <a:r>
              <a:rPr lang="en-US" dirty="0"/>
              <a:t>I really like this figure because it showcases that expert agreement is possible while </a:t>
            </a:r>
            <a:r>
              <a:rPr lang="en-US" dirty="0" err="1"/>
              <a:t>contexualizing</a:t>
            </a:r>
            <a:r>
              <a:rPr lang="en-US" dirty="0"/>
              <a:t> the extend of disagreement for these carb-rich foods. And if you recall – these more detailed food level results are aligned with our insights from the 2</a:t>
            </a:r>
            <a:r>
              <a:rPr lang="en-US" baseline="30000" dirty="0"/>
              <a:t>nd</a:t>
            </a:r>
            <a:r>
              <a:rPr lang="en-US" dirty="0"/>
              <a:t> </a:t>
            </a:r>
            <a:r>
              <a:rPr lang="en-US" dirty="0" err="1"/>
              <a:t>youtube</a:t>
            </a:r>
            <a:r>
              <a:rPr lang="en-US" dirty="0"/>
              <a:t> video showing that grains were the most problematic overall in terms of agreement.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A3D661-682E-453B-E86D-49F1CF1E8D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C415-3298-478D-A257-76DAAB4AB534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189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we’re looking at a zoomed in and expanded version of the “Uncertain” label for experts-only, layered in with food groupings, and ordered in the same manner as the misalignment results. All of </a:t>
            </a:r>
            <a:r>
              <a:rPr lang="en-US" dirty="0" err="1"/>
              <a:t>ths</a:t>
            </a:r>
            <a:r>
              <a:rPr lang="en-US" dirty="0"/>
              <a:t> information is derived from the meta-NPS more details can be found on the previous 2 videos. </a:t>
            </a:r>
          </a:p>
          <a:p>
            <a:endParaRPr lang="en-US" dirty="0"/>
          </a:p>
          <a:p>
            <a:r>
              <a:rPr lang="en-US" dirty="0"/>
              <a:t>On the y-axis we have Health percentile as the harmonization basis across independent nutrient profiling systems. For each food, the boxplot shows the distribution of health ratings across 5 expert systems – each reflected as a point. The boxplots are colored by expert classification – uncertain is light gray, unhealthy is red, neutral is dark gray, and healthy is green.</a:t>
            </a:r>
          </a:p>
          <a:p>
            <a:endParaRPr lang="en-US" dirty="0"/>
          </a:p>
          <a:p>
            <a:r>
              <a:rPr lang="en-US" dirty="0"/>
              <a:t>So looking at this first food, 100% fruit juice, as an example, the meta-NPS is saying that experts ranked this food ranging from the 30</a:t>
            </a:r>
            <a:r>
              <a:rPr lang="en-US" baseline="30000" dirty="0"/>
              <a:t>th</a:t>
            </a:r>
            <a:r>
              <a:rPr lang="en-US" dirty="0"/>
              <a:t> the 100</a:t>
            </a:r>
            <a:r>
              <a:rPr lang="en-US" baseline="30000" dirty="0"/>
              <a:t>th</a:t>
            </a:r>
            <a:r>
              <a:rPr lang="en-US" dirty="0"/>
              <a:t> percentile of healthfulness – a difference of 70 – which is why this is food is considered as Uncertainly Healthy.  And importantly, the overall distribution of 100% juice is shifted towards being more healthy relative to fruit juice with vitamin C.</a:t>
            </a:r>
          </a:p>
          <a:p>
            <a:endParaRPr lang="en-US" dirty="0"/>
          </a:p>
          <a:p>
            <a:r>
              <a:rPr lang="en-US" dirty="0"/>
              <a:t>I really like this figure because it showcases that expert agreement is possible while </a:t>
            </a:r>
            <a:r>
              <a:rPr lang="en-US" dirty="0" err="1"/>
              <a:t>contexualizing</a:t>
            </a:r>
            <a:r>
              <a:rPr lang="en-US" dirty="0"/>
              <a:t> the extend of disagreement for these carb-rich foods. And if you recall – these more detailed food level results are aligned with our insights from the 2</a:t>
            </a:r>
            <a:r>
              <a:rPr lang="en-US" baseline="30000" dirty="0"/>
              <a:t>nd</a:t>
            </a:r>
            <a:r>
              <a:rPr lang="en-US" dirty="0"/>
              <a:t> </a:t>
            </a:r>
            <a:r>
              <a:rPr lang="en-US" dirty="0" err="1"/>
              <a:t>youtube</a:t>
            </a:r>
            <a:r>
              <a:rPr lang="en-US" dirty="0"/>
              <a:t> video showing that grains were the most problematic overall in terms of agreement.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D8C415-3298-478D-A257-76DAAB4AB534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442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4C5C6-8356-D6C7-996E-E931E16E6F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8BC37D-26A4-6EA8-4AB5-AFF687CF3B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3D277-793F-5BAA-B338-E0674F8C8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98A0-88AB-4349-A0C0-0B5CA8DCE9A3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C5D63-824E-FCC4-6E21-E5C38385A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9CC95-1422-D20C-5396-5B7F4C0A6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8B373-F375-4DC3-B062-796AA4A49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674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BB9C3-8498-E77C-66B6-6D6887368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0A76A-73D8-F5A4-BD82-3046870CC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2ED57-BBBB-9192-CD68-55FBE04A0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98A0-88AB-4349-A0C0-0B5CA8DCE9A3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717C6-A542-5D26-D624-AD1D60C8B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1FB84-56FB-CA13-78AB-DBB6EAAB0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8B373-F375-4DC3-B062-796AA4A49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55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AC353-7614-7C55-30C6-2E4C95A04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629775-8576-BDC5-2BC4-8784652C9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E482F-EFFA-6607-CC7E-E2848C425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98A0-88AB-4349-A0C0-0B5CA8DCE9A3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28479-40CE-8081-29DF-0594D976C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42179-A8BB-07AB-8247-60D72F05B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8B373-F375-4DC3-B062-796AA4A49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247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4B85B-B46A-A022-2364-5C7C0F3A1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6687F-3F86-A2B7-B62F-1C1425EB50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C41390-1F3A-0406-3CA5-414530C292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88F8CC-15B4-2ED1-9314-9AD9CBFED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98A0-88AB-4349-A0C0-0B5CA8DCE9A3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26DD03-CD4C-0F5E-3C78-5E8F1CC66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7D2770-5114-91F0-6A83-22A88AE39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8B373-F375-4DC3-B062-796AA4A49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245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19C20-28F3-EC34-FD7F-2E57229A5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8555C-D476-6A5A-205C-96A427A2F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F0C6D-C085-5D8A-9C02-C353DA26DB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32D71E-8EC2-105F-4016-09E3AD300F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D6A3B9-5D51-2C2C-9C81-29F0EDE948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4F7D81-4B8C-7CA1-DDDB-840467E15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98A0-88AB-4349-A0C0-0B5CA8DCE9A3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0DA29A-99BA-4E87-5932-948951F12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C1562A-FF81-921C-D8DA-0645C0C3C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8B373-F375-4DC3-B062-796AA4A49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693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29A0C-F740-2EFB-AD20-4942734F9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8A8887-7F52-E15B-ADB4-18D3A9066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98A0-88AB-4349-A0C0-0B5CA8DCE9A3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5AA23F-0A79-5A6B-A1B6-33E047490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83E2D5-ACAE-01A4-F9A1-358B7189D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8B373-F375-4DC3-B062-796AA4A49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625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815EB9-CFAC-5C8D-6A11-6294FE7B7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98A0-88AB-4349-A0C0-0B5CA8DCE9A3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30CB10-9134-2CF1-F185-11746E947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D2D6B4-3B09-7F94-3845-AA833DB60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8B373-F375-4DC3-B062-796AA4A49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588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FB837-27CD-1B50-B74B-A6F90BBDC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43AF2-D85C-2D1B-D48A-0AAB78BE0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2CF67D-811B-B865-6B6A-3970B59FD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D1F910-7F47-F624-9FBD-C03B7008E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98A0-88AB-4349-A0C0-0B5CA8DCE9A3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718E20-9A69-9F18-321D-A6E55D7B2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057A2A-EB99-D44D-2E6D-66D103D8E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8B373-F375-4DC3-B062-796AA4A49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516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65E5C-4368-4EC6-E853-913E1ACF8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DDD6C6-1E7F-E130-7CD1-523A1B5F80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917036-5789-03BC-3332-7A6628A0AC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5281A1-28DA-47A4-1388-2DBC40C56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98A0-88AB-4349-A0C0-0B5CA8DCE9A3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2FEABA-823B-8DA5-F12A-74473E412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5D2CD0-8F4C-BD11-208D-354AF90AD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8B373-F375-4DC3-B062-796AA4A49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248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D8985-23B1-6982-8370-536E1B986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F3284D-243E-9E01-BAC8-1F3AE6FB40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29F46-4CEB-35DE-BA76-BFD4F65C9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98A0-88AB-4349-A0C0-0B5CA8DCE9A3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4D217-52B8-CB23-3E2D-3CDA90C03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7CADB-A981-04A3-4B29-812919502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8B373-F375-4DC3-B062-796AA4A49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987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E600E3-AD44-123E-F756-DB56F3421A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96422F-C835-53F7-5E0C-9802A5D00B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F5746-7391-297B-290B-D75344D98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098A0-88AB-4349-A0C0-0B5CA8DCE9A3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EDD6C-25C4-D439-C435-2B6711880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1EE0D-1022-FE96-EC0D-7D782D316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8B373-F375-4DC3-B062-796AA4A49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105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60BB98-8EE0-6124-B98E-9424A2A01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C17B0C-76EC-D64A-6E22-E68E8C04D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201EE-9251-2F0D-B970-6F9F66CC7E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7098A0-88AB-4349-A0C0-0B5CA8DCE9A3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06709-17B3-1022-2FF4-9A4BA6CB84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3D451-A38F-B604-DFAB-185FC06CB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48B373-F375-4DC3-B062-796AA4A49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882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microsoft.com/office/2007/relationships/hdphoto" Target="../media/hdphoto2.wdp"/><Relationship Id="rId5" Type="http://schemas.openxmlformats.org/officeDocument/2006/relationships/image" Target="../media/image4.svg"/><Relationship Id="rId10" Type="http://schemas.openxmlformats.org/officeDocument/2006/relationships/image" Target="../media/image8.png"/><Relationship Id="rId4" Type="http://schemas.openxmlformats.org/officeDocument/2006/relationships/image" Target="../media/image3.svg"/><Relationship Id="rId9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11.jpe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E3DFB47D-B270-3B3A-F935-10CF18BD2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806" y="1985759"/>
            <a:ext cx="8895817" cy="2886482"/>
          </a:xfrm>
          <a:prstGeom prst="rect">
            <a:avLst/>
          </a:prstGeom>
        </p:spPr>
      </p:pic>
      <p:sp>
        <p:nvSpPr>
          <p:cNvPr id="36" name="Title 1">
            <a:extLst>
              <a:ext uri="{FF2B5EF4-FFF2-40B4-BE49-F238E27FC236}">
                <a16:creationId xmlns:a16="http://schemas.microsoft.com/office/drawing/2014/main" id="{DB9D4F21-1D66-840A-4783-59F1EFDDB963}"/>
              </a:ext>
            </a:extLst>
          </p:cNvPr>
          <p:cNvSpPr txBox="1">
            <a:spLocks/>
          </p:cNvSpPr>
          <p:nvPr/>
        </p:nvSpPr>
        <p:spPr>
          <a:xfrm>
            <a:off x="1524000" y="0"/>
            <a:ext cx="9144000" cy="1097280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3000" b="1" dirty="0">
                <a:solidFill>
                  <a:srgbClr val="0483BF"/>
                </a:solidFill>
              </a:rPr>
              <a:t>Meta-</a:t>
            </a:r>
            <a:r>
              <a:rPr lang="en-US" sz="3000" b="1" u="sng" dirty="0">
                <a:solidFill>
                  <a:srgbClr val="0483BF"/>
                </a:solidFill>
              </a:rPr>
              <a:t>n</a:t>
            </a:r>
            <a:r>
              <a:rPr lang="en-US" sz="3000" b="1" dirty="0">
                <a:solidFill>
                  <a:srgbClr val="0483BF"/>
                </a:solidFill>
              </a:rPr>
              <a:t>utritional </a:t>
            </a:r>
            <a:r>
              <a:rPr lang="en-US" sz="3000" b="1" u="sng" dirty="0">
                <a:solidFill>
                  <a:srgbClr val="0483BF"/>
                </a:solidFill>
              </a:rPr>
              <a:t>p</a:t>
            </a:r>
            <a:r>
              <a:rPr lang="en-US" sz="3000" b="1" dirty="0">
                <a:solidFill>
                  <a:srgbClr val="0483BF"/>
                </a:solidFill>
              </a:rPr>
              <a:t>rofiling </a:t>
            </a:r>
            <a:r>
              <a:rPr lang="en-US" sz="3000" b="1" u="sng" dirty="0">
                <a:solidFill>
                  <a:srgbClr val="0483BF"/>
                </a:solidFill>
              </a:rPr>
              <a:t>s</a:t>
            </a:r>
            <a:r>
              <a:rPr lang="en-US" sz="3000" b="1" dirty="0">
                <a:solidFill>
                  <a:srgbClr val="0483BF"/>
                </a:solidFill>
              </a:rPr>
              <a:t>ystem (meta-NPS): </a:t>
            </a:r>
          </a:p>
          <a:p>
            <a:pPr algn="ctr"/>
            <a:r>
              <a:rPr lang="en-US" sz="3000" b="1" dirty="0">
                <a:solidFill>
                  <a:srgbClr val="0483BF"/>
                </a:solidFill>
              </a:rPr>
              <a:t>Bridge between science and health information </a:t>
            </a:r>
          </a:p>
        </p:txBody>
      </p:sp>
    </p:spTree>
    <p:extLst>
      <p:ext uri="{BB962C8B-B14F-4D97-AF65-F5344CB8AC3E}">
        <p14:creationId xmlns:p14="http://schemas.microsoft.com/office/powerpoint/2010/main" val="3392594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llout: Right Arrow 6">
            <a:extLst>
              <a:ext uri="{FF2B5EF4-FFF2-40B4-BE49-F238E27FC236}">
                <a16:creationId xmlns:a16="http://schemas.microsoft.com/office/drawing/2014/main" id="{19D0F7EB-F092-B7DD-18B6-27BA89E67E1B}"/>
              </a:ext>
            </a:extLst>
          </p:cNvPr>
          <p:cNvSpPr/>
          <p:nvPr/>
        </p:nvSpPr>
        <p:spPr>
          <a:xfrm>
            <a:off x="4272594" y="1956883"/>
            <a:ext cx="4372368" cy="1891161"/>
          </a:xfrm>
          <a:prstGeom prst="rightArrowCallout">
            <a:avLst>
              <a:gd name="adj1" fmla="val 27930"/>
              <a:gd name="adj2" fmla="val 30128"/>
              <a:gd name="adj3" fmla="val 14762"/>
              <a:gd name="adj4" fmla="val 91290"/>
            </a:avLst>
          </a:prstGeom>
          <a:solidFill>
            <a:schemeClr val="bg1">
              <a:lumMod val="75000"/>
              <a:alpha val="20000"/>
            </a:schemeClr>
          </a:solidFill>
          <a:ln cap="rnd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56A30C-D082-7634-ADA4-43EEA2DC4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Josh Erndt-Marino</a:t>
            </a:r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248CF98-C52E-D517-4E39-56F6A5FB085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51" t="14853" r="8991" b="11125"/>
          <a:stretch/>
        </p:blipFill>
        <p:spPr>
          <a:xfrm>
            <a:off x="9873092" y="6137456"/>
            <a:ext cx="623366" cy="554301"/>
          </a:xfrm>
          <a:prstGeom prst="rect">
            <a:avLst/>
          </a:prstGeom>
        </p:spPr>
      </p:pic>
      <p:sp>
        <p:nvSpPr>
          <p:cNvPr id="8" name="Callout: Right Arrow 7">
            <a:extLst>
              <a:ext uri="{FF2B5EF4-FFF2-40B4-BE49-F238E27FC236}">
                <a16:creationId xmlns:a16="http://schemas.microsoft.com/office/drawing/2014/main" id="{4024686A-359E-EB93-ED44-37FF5D801C5B}"/>
              </a:ext>
            </a:extLst>
          </p:cNvPr>
          <p:cNvSpPr/>
          <p:nvPr/>
        </p:nvSpPr>
        <p:spPr>
          <a:xfrm>
            <a:off x="1841424" y="1941754"/>
            <a:ext cx="2674628" cy="1890866"/>
          </a:xfrm>
          <a:prstGeom prst="rightArrowCallout">
            <a:avLst>
              <a:gd name="adj1" fmla="val 30073"/>
              <a:gd name="adj2" fmla="val 30772"/>
              <a:gd name="adj3" fmla="val 15678"/>
              <a:gd name="adj4" fmla="val 84592"/>
            </a:avLst>
          </a:prstGeom>
          <a:solidFill>
            <a:schemeClr val="accent4">
              <a:lumMod val="40000"/>
              <a:lumOff val="60000"/>
              <a:alpha val="2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User with solid fill">
            <a:extLst>
              <a:ext uri="{FF2B5EF4-FFF2-40B4-BE49-F238E27FC236}">
                <a16:creationId xmlns:a16="http://schemas.microsoft.com/office/drawing/2014/main" id="{D18F603A-80E7-9D25-4B23-5E3A22F508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20327" y="2969214"/>
            <a:ext cx="722539" cy="722539"/>
          </a:xfrm>
          <a:prstGeom prst="rect">
            <a:avLst/>
          </a:prstGeom>
        </p:spPr>
      </p:pic>
      <p:pic>
        <p:nvPicPr>
          <p:cNvPr id="10" name="Graphic 9" descr="Thought bubble with solid fill">
            <a:extLst>
              <a:ext uri="{FF2B5EF4-FFF2-40B4-BE49-F238E27FC236}">
                <a16:creationId xmlns:a16="http://schemas.microsoft.com/office/drawing/2014/main" id="{26080FA0-9F7B-868E-4354-9CE81A03C2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55265" y="2885435"/>
            <a:ext cx="506261" cy="506261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69940B9-D2F3-1AFA-B107-391DF4188D87}"/>
              </a:ext>
            </a:extLst>
          </p:cNvPr>
          <p:cNvCxnSpPr>
            <a:cxnSpLocks/>
          </p:cNvCxnSpPr>
          <p:nvPr/>
        </p:nvCxnSpPr>
        <p:spPr>
          <a:xfrm>
            <a:off x="5986729" y="2950857"/>
            <a:ext cx="4572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6FA234-B126-AD97-4601-EADA1C37AD39}"/>
              </a:ext>
            </a:extLst>
          </p:cNvPr>
          <p:cNvGrpSpPr/>
          <p:nvPr/>
        </p:nvGrpSpPr>
        <p:grpSpPr>
          <a:xfrm>
            <a:off x="6563688" y="2266918"/>
            <a:ext cx="1487805" cy="1296839"/>
            <a:chOff x="7275971" y="4008765"/>
            <a:chExt cx="1487805" cy="1296839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019C7549-C448-361D-0504-8DFAC1F0B8EC}"/>
                </a:ext>
              </a:extLst>
            </p:cNvPr>
            <p:cNvSpPr/>
            <p:nvPr/>
          </p:nvSpPr>
          <p:spPr>
            <a:xfrm>
              <a:off x="7275971" y="4008765"/>
              <a:ext cx="1487805" cy="1296839"/>
            </a:xfrm>
            <a:prstGeom prst="roundRect">
              <a:avLst/>
            </a:prstGeom>
            <a:solidFill>
              <a:srgbClr val="F4B183">
                <a:alpha val="2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Expert Rating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CEE669B-7EF9-C997-5605-3667EBD796D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498177" y="4264446"/>
              <a:ext cx="1041224" cy="1008121"/>
            </a:xfrm>
            <a:prstGeom prst="rect">
              <a:avLst/>
            </a:prstGeom>
          </p:spPr>
        </p:pic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EB04288-5D2C-74C4-7F72-C7DB767FA959}"/>
              </a:ext>
            </a:extLst>
          </p:cNvPr>
          <p:cNvCxnSpPr>
            <a:cxnSpLocks/>
          </p:cNvCxnSpPr>
          <p:nvPr/>
        </p:nvCxnSpPr>
        <p:spPr>
          <a:xfrm>
            <a:off x="5986729" y="2762898"/>
            <a:ext cx="457200" cy="0"/>
          </a:xfrm>
          <a:prstGeom prst="straightConnector1">
            <a:avLst/>
          </a:prstGeom>
          <a:ln w="57150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8C43EE5-E976-F26D-4DD5-8EE8114C59B0}"/>
              </a:ext>
            </a:extLst>
          </p:cNvPr>
          <p:cNvSpPr txBox="1"/>
          <p:nvPr/>
        </p:nvSpPr>
        <p:spPr>
          <a:xfrm>
            <a:off x="1841423" y="2098236"/>
            <a:ext cx="2294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Whole Wheat Bread:</a:t>
            </a:r>
          </a:p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Healthy?</a:t>
            </a:r>
          </a:p>
        </p:txBody>
      </p:sp>
      <p:pic>
        <p:nvPicPr>
          <p:cNvPr id="41" name="Picture 2" descr="isolated style icon vector design ...">
            <a:extLst>
              <a:ext uri="{FF2B5EF4-FFF2-40B4-BE49-F238E27FC236}">
                <a16:creationId xmlns:a16="http://schemas.microsoft.com/office/drawing/2014/main" id="{2DCA0DFB-C928-13D8-4CD0-8DA867A449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6000" b="82222" l="16000" r="82667">
                        <a14:foregroundMark x1="27111" y1="25333" x2="27111" y2="25333"/>
                        <a14:foregroundMark x1="24444" y1="22222" x2="24444" y2="22222"/>
                        <a14:foregroundMark x1="16000" y1="27556" x2="16000" y2="27556"/>
                        <a14:foregroundMark x1="78667" y1="21333" x2="78667" y2="21333"/>
                        <a14:foregroundMark x1="83111" y1="29333" x2="83111" y2="29333"/>
                        <a14:foregroundMark x1="60000" y1="17333" x2="60000" y2="17333"/>
                        <a14:foregroundMark x1="76444" y1="18667" x2="64000" y2="16444"/>
                        <a14:foregroundMark x1="26222" y1="76000" x2="71111" y2="78222"/>
                        <a14:foregroundMark x1="29778" y1="80000" x2="71111" y2="80000"/>
                        <a14:foregroundMark x1="28444" y1="76889" x2="67556" y2="80444"/>
                        <a14:foregroundMark x1="30667" y1="78667" x2="67111" y2="8222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727" t="9572" r="13839" b="13533"/>
          <a:stretch/>
        </p:blipFill>
        <p:spPr bwMode="auto">
          <a:xfrm>
            <a:off x="3170777" y="3029974"/>
            <a:ext cx="556571" cy="582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3" name="Group 52">
            <a:extLst>
              <a:ext uri="{FF2B5EF4-FFF2-40B4-BE49-F238E27FC236}">
                <a16:creationId xmlns:a16="http://schemas.microsoft.com/office/drawing/2014/main" id="{6C80149A-03E8-E47F-F391-A7BEE0E14DF5}"/>
              </a:ext>
            </a:extLst>
          </p:cNvPr>
          <p:cNvGrpSpPr/>
          <p:nvPr/>
        </p:nvGrpSpPr>
        <p:grpSpPr>
          <a:xfrm>
            <a:off x="4538210" y="2217904"/>
            <a:ext cx="1394866" cy="1394866"/>
            <a:chOff x="1898166" y="5110092"/>
            <a:chExt cx="1394866" cy="1394866"/>
          </a:xfrm>
        </p:grpSpPr>
        <p:pic>
          <p:nvPicPr>
            <p:cNvPr id="12" name="Graphic 11" descr="Monitor with solid fill">
              <a:extLst>
                <a:ext uri="{FF2B5EF4-FFF2-40B4-BE49-F238E27FC236}">
                  <a16:creationId xmlns:a16="http://schemas.microsoft.com/office/drawing/2014/main" id="{D696CCF6-2505-5B0A-D7CC-C0C6A69F3A4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898166" y="5110092"/>
              <a:ext cx="1394866" cy="1394866"/>
            </a:xfrm>
            <a:prstGeom prst="rect">
              <a:avLst/>
            </a:prstGeom>
          </p:spPr>
        </p:pic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0B962CAD-77FD-C963-65F8-92880F061913}"/>
                </a:ext>
              </a:extLst>
            </p:cNvPr>
            <p:cNvGrpSpPr/>
            <p:nvPr/>
          </p:nvGrpSpPr>
          <p:grpSpPr>
            <a:xfrm>
              <a:off x="2088883" y="5385525"/>
              <a:ext cx="1010674" cy="653143"/>
              <a:chOff x="5445918" y="2819338"/>
              <a:chExt cx="812800" cy="512957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57C3B082-9968-FCE2-C6A6-9E8C0D094980}"/>
                  </a:ext>
                </a:extLst>
              </p:cNvPr>
              <p:cNvSpPr/>
              <p:nvPr/>
            </p:nvSpPr>
            <p:spPr>
              <a:xfrm>
                <a:off x="5445918" y="2903993"/>
                <a:ext cx="812799" cy="348124"/>
              </a:xfrm>
              <a:prstGeom prst="rect">
                <a:avLst/>
              </a:prstGeom>
              <a:solidFill>
                <a:srgbClr val="A5A5A5">
                  <a:alpha val="50196"/>
                </a:srgbClr>
              </a:solidFill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41B3E017-B7A1-C095-742A-F43C0978C181}"/>
                  </a:ext>
                </a:extLst>
              </p:cNvPr>
              <p:cNvSpPr/>
              <p:nvPr/>
            </p:nvSpPr>
            <p:spPr>
              <a:xfrm>
                <a:off x="5445918" y="3252117"/>
                <a:ext cx="812799" cy="80178"/>
              </a:xfrm>
              <a:prstGeom prst="rect">
                <a:avLst/>
              </a:prstGeom>
              <a:solidFill>
                <a:srgbClr val="FF0000">
                  <a:alpha val="50196"/>
                </a:srgb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7081AC0C-D05B-3F7D-0638-5460AAEA4917}"/>
                  </a:ext>
                </a:extLst>
              </p:cNvPr>
              <p:cNvSpPr/>
              <p:nvPr/>
            </p:nvSpPr>
            <p:spPr>
              <a:xfrm>
                <a:off x="5445919" y="2819338"/>
                <a:ext cx="812799" cy="84655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  <a:alpha val="50196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228ADE70-0B7B-0E18-D8F6-1231603D34A9}"/>
                  </a:ext>
                </a:extLst>
              </p:cNvPr>
              <p:cNvSpPr/>
              <p:nvPr/>
            </p:nvSpPr>
            <p:spPr>
              <a:xfrm>
                <a:off x="5528155" y="3002187"/>
                <a:ext cx="158564" cy="126181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36" name="Picture 2" descr="isolated style icon vector design ...">
              <a:extLst>
                <a:ext uri="{FF2B5EF4-FFF2-40B4-BE49-F238E27FC236}">
                  <a16:creationId xmlns:a16="http://schemas.microsoft.com/office/drawing/2014/main" id="{7CDAE352-AF99-F552-CE6F-F787563DDB2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6000" b="82222" l="16000" r="82667">
                          <a14:foregroundMark x1="27111" y1="25333" x2="27111" y2="25333"/>
                          <a14:foregroundMark x1="24444" y1="22222" x2="24444" y2="22222"/>
                          <a14:foregroundMark x1="16000" y1="27556" x2="16000" y2="27556"/>
                          <a14:foregroundMark x1="78667" y1="21333" x2="78667" y2="21333"/>
                          <a14:foregroundMark x1="83111" y1="29333" x2="83111" y2="29333"/>
                          <a14:foregroundMark x1="60000" y1="17333" x2="60000" y2="17333"/>
                          <a14:foregroundMark x1="76444" y1="18667" x2="64000" y2="16444"/>
                          <a14:foregroundMark x1="26222" y1="76000" x2="71111" y2="78222"/>
                          <a14:foregroundMark x1="29778" y1="80000" x2="71111" y2="80000"/>
                          <a14:foregroundMark x1="28444" y1="76889" x2="67556" y2="80444"/>
                          <a14:foregroundMark x1="30667" y1="78667" x2="67111" y2="8222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727" t="9572" r="13839" b="13533"/>
            <a:stretch/>
          </p:blipFill>
          <p:spPr bwMode="auto">
            <a:xfrm>
              <a:off x="2231912" y="5638142"/>
              <a:ext cx="115621" cy="1210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7138CCD-E076-5806-42FD-00C094AB7CF6}"/>
              </a:ext>
            </a:extLst>
          </p:cNvPr>
          <p:cNvCxnSpPr>
            <a:cxnSpLocks/>
          </p:cNvCxnSpPr>
          <p:nvPr/>
        </p:nvCxnSpPr>
        <p:spPr>
          <a:xfrm rot="16200000">
            <a:off x="4392177" y="4157774"/>
            <a:ext cx="0" cy="557784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0597E959-2503-DDE0-17F3-2B374312171E}"/>
              </a:ext>
            </a:extLst>
          </p:cNvPr>
          <p:cNvSpPr txBox="1"/>
          <p:nvPr/>
        </p:nvSpPr>
        <p:spPr>
          <a:xfrm>
            <a:off x="2167433" y="4236611"/>
            <a:ext cx="1590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User Query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07682F2-A91C-9BE6-42E4-3DA75D45AE08}"/>
              </a:ext>
            </a:extLst>
          </p:cNvPr>
          <p:cNvSpPr txBox="1"/>
          <p:nvPr/>
        </p:nvSpPr>
        <p:spPr>
          <a:xfrm>
            <a:off x="8503099" y="4236611"/>
            <a:ext cx="19159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Health Information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09EE51E-6563-57B2-E32E-E6530D4B9131}"/>
              </a:ext>
            </a:extLst>
          </p:cNvPr>
          <p:cNvCxnSpPr>
            <a:cxnSpLocks/>
          </p:cNvCxnSpPr>
          <p:nvPr/>
        </p:nvCxnSpPr>
        <p:spPr>
          <a:xfrm rot="16200000">
            <a:off x="7912716" y="4169626"/>
            <a:ext cx="0" cy="557784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6C034B24-619E-221F-55F5-A3046BFA8607}"/>
              </a:ext>
            </a:extLst>
          </p:cNvPr>
          <p:cNvSpPr txBox="1"/>
          <p:nvPr/>
        </p:nvSpPr>
        <p:spPr>
          <a:xfrm>
            <a:off x="4897994" y="4241256"/>
            <a:ext cx="2433702" cy="1177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Meta-NPS</a:t>
            </a:r>
          </a:p>
          <a:p>
            <a:pPr algn="ctr">
              <a:spcBef>
                <a:spcPts val="300"/>
              </a:spcBef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utritional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rofiling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ystem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479A85-5255-B074-B5AE-806D62D2C444}"/>
              </a:ext>
            </a:extLst>
          </p:cNvPr>
          <p:cNvSpPr/>
          <p:nvPr/>
        </p:nvSpPr>
        <p:spPr>
          <a:xfrm>
            <a:off x="6235700" y="1816101"/>
            <a:ext cx="2267398" cy="227900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4" descr="192 Shrug Icon Stock Illustrations ...">
            <a:extLst>
              <a:ext uri="{FF2B5EF4-FFF2-40B4-BE49-F238E27FC236}">
                <a16:creationId xmlns:a16="http://schemas.microsoft.com/office/drawing/2014/main" id="{4F533401-C2C7-D7FE-1C70-B5568CFF7D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25108" b="71429" l="21560" r="77523">
                        <a14:foregroundMark x1="46789" y1="27273" x2="46789" y2="27273"/>
                        <a14:foregroundMark x1="30734" y1="27706" x2="30734" y2="27706"/>
                        <a14:foregroundMark x1="66972" y1="28571" x2="66972" y2="28571"/>
                        <a14:foregroundMark x1="63761" y1="25108" x2="63761" y2="25108"/>
                        <a14:foregroundMark x1="62385" y1="36797" x2="62385" y2="36797"/>
                        <a14:foregroundMark x1="34862" y1="38961" x2="34862" y2="38961"/>
                        <a14:backgroundMark x1="31193" y1="28571" x2="31193" y2="28571"/>
                        <a14:backgroundMark x1="30275" y1="28571" x2="30275" y2="28571"/>
                        <a14:backgroundMark x1="48165" y1="45887" x2="48165" y2="458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492" t="23062" r="15544" b="22396"/>
          <a:stretch/>
        </p:blipFill>
        <p:spPr bwMode="auto">
          <a:xfrm>
            <a:off x="9447554" y="2667730"/>
            <a:ext cx="870333" cy="729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2" descr="isolated style icon vector design ...">
            <a:extLst>
              <a:ext uri="{FF2B5EF4-FFF2-40B4-BE49-F238E27FC236}">
                <a16:creationId xmlns:a16="http://schemas.microsoft.com/office/drawing/2014/main" id="{2A541A45-6150-2B5F-3D93-6EC08C7FAC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27" t="9572" r="13839" b="13533"/>
          <a:stretch/>
        </p:blipFill>
        <p:spPr bwMode="auto">
          <a:xfrm>
            <a:off x="8725305" y="2606023"/>
            <a:ext cx="637419" cy="667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D9C32DA-F02A-2A39-9FE5-8EE393FA28FE}"/>
              </a:ext>
            </a:extLst>
          </p:cNvPr>
          <p:cNvSpPr txBox="1">
            <a:spLocks/>
          </p:cNvSpPr>
          <p:nvPr/>
        </p:nvSpPr>
        <p:spPr>
          <a:xfrm>
            <a:off x="1524000" y="0"/>
            <a:ext cx="9144000" cy="1097280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3000" b="1" dirty="0">
                <a:solidFill>
                  <a:srgbClr val="0483BF"/>
                </a:solidFill>
              </a:rPr>
              <a:t>Meta-</a:t>
            </a:r>
            <a:r>
              <a:rPr lang="en-US" sz="3000" b="1" u="sng" dirty="0">
                <a:solidFill>
                  <a:srgbClr val="0483BF"/>
                </a:solidFill>
              </a:rPr>
              <a:t>n</a:t>
            </a:r>
            <a:r>
              <a:rPr lang="en-US" sz="3000" b="1" dirty="0">
                <a:solidFill>
                  <a:srgbClr val="0483BF"/>
                </a:solidFill>
              </a:rPr>
              <a:t>utritional </a:t>
            </a:r>
            <a:r>
              <a:rPr lang="en-US" sz="3000" b="1" u="sng" dirty="0">
                <a:solidFill>
                  <a:srgbClr val="0483BF"/>
                </a:solidFill>
              </a:rPr>
              <a:t>p</a:t>
            </a:r>
            <a:r>
              <a:rPr lang="en-US" sz="3000" b="1" dirty="0">
                <a:solidFill>
                  <a:srgbClr val="0483BF"/>
                </a:solidFill>
              </a:rPr>
              <a:t>rofiling </a:t>
            </a:r>
            <a:r>
              <a:rPr lang="en-US" sz="3000" b="1" u="sng" dirty="0">
                <a:solidFill>
                  <a:srgbClr val="0483BF"/>
                </a:solidFill>
              </a:rPr>
              <a:t>s</a:t>
            </a:r>
            <a:r>
              <a:rPr lang="en-US" sz="3000" b="1" dirty="0">
                <a:solidFill>
                  <a:srgbClr val="0483BF"/>
                </a:solidFill>
              </a:rPr>
              <a:t>ystem (meta-NPS): </a:t>
            </a:r>
          </a:p>
          <a:p>
            <a:pPr algn="ctr"/>
            <a:r>
              <a:rPr lang="en-US" sz="3000" b="1" dirty="0">
                <a:solidFill>
                  <a:srgbClr val="0483BF"/>
                </a:solidFill>
              </a:rPr>
              <a:t>Bridge between science and health information </a:t>
            </a:r>
          </a:p>
        </p:txBody>
      </p:sp>
    </p:spTree>
    <p:extLst>
      <p:ext uri="{BB962C8B-B14F-4D97-AF65-F5344CB8AC3E}">
        <p14:creationId xmlns:p14="http://schemas.microsoft.com/office/powerpoint/2010/main" val="1812448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62B34A9A-6B71-C46B-C30E-CCF79A71DE4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58"/>
          <a:stretch/>
        </p:blipFill>
        <p:spPr>
          <a:xfrm>
            <a:off x="1841715" y="1802512"/>
            <a:ext cx="4206048" cy="3461520"/>
          </a:xfrm>
          <a:prstGeom prst="rect">
            <a:avLst/>
          </a:prstGeom>
        </p:spPr>
      </p:pic>
      <p:pic>
        <p:nvPicPr>
          <p:cNvPr id="20" name="Picture 2" descr="isolated style icon vector design ...">
            <a:extLst>
              <a:ext uri="{FF2B5EF4-FFF2-40B4-BE49-F238E27FC236}">
                <a16:creationId xmlns:a16="http://schemas.microsoft.com/office/drawing/2014/main" id="{D9E0D5A3-86B0-E489-5EC6-C022EF611C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000" b="82222" l="16000" r="82667">
                        <a14:foregroundMark x1="27111" y1="25333" x2="27111" y2="25333"/>
                        <a14:foregroundMark x1="24444" y1="22222" x2="24444" y2="22222"/>
                        <a14:foregroundMark x1="16000" y1="27556" x2="16000" y2="27556"/>
                        <a14:foregroundMark x1="78667" y1="21333" x2="78667" y2="21333"/>
                        <a14:foregroundMark x1="83111" y1="29333" x2="83111" y2="29333"/>
                        <a14:foregroundMark x1="60000" y1="17333" x2="60000" y2="17333"/>
                        <a14:foregroundMark x1="76444" y1="18667" x2="64000" y2="16444"/>
                        <a14:foregroundMark x1="26222" y1="76000" x2="71111" y2="78222"/>
                        <a14:foregroundMark x1="29778" y1="80000" x2="71111" y2="80000"/>
                        <a14:foregroundMark x1="28444" y1="76889" x2="67556" y2="80444"/>
                        <a14:foregroundMark x1="30667" y1="78667" x2="67111" y2="8222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727" t="9572" r="13839" b="13533"/>
          <a:stretch/>
        </p:blipFill>
        <p:spPr bwMode="auto">
          <a:xfrm>
            <a:off x="2980106" y="4941256"/>
            <a:ext cx="308251" cy="322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C873C9-D929-11CE-70CF-E7B3602C6F81}"/>
              </a:ext>
            </a:extLst>
          </p:cNvPr>
          <p:cNvSpPr txBox="1"/>
          <p:nvPr/>
        </p:nvSpPr>
        <p:spPr>
          <a:xfrm>
            <a:off x="5596619" y="4320101"/>
            <a:ext cx="1417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Unhealthy</a:t>
            </a:r>
          </a:p>
        </p:txBody>
      </p:sp>
      <p:pic>
        <p:nvPicPr>
          <p:cNvPr id="19" name="Picture 2" descr="1,348 Neutral Thumb Images, Stock Photos, 3D objects ...">
            <a:extLst>
              <a:ext uri="{FF2B5EF4-FFF2-40B4-BE49-F238E27FC236}">
                <a16:creationId xmlns:a16="http://schemas.microsoft.com/office/drawing/2014/main" id="{EABF3284-6172-6379-8C52-24893731A4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434" t="11754" r="1719" b="36642"/>
          <a:stretch/>
        </p:blipFill>
        <p:spPr bwMode="auto">
          <a:xfrm>
            <a:off x="8016794" y="1838917"/>
            <a:ext cx="741871" cy="727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1,348 Neutral Thumb Images, Stock Photos, 3D objects ...">
            <a:extLst>
              <a:ext uri="{FF2B5EF4-FFF2-40B4-BE49-F238E27FC236}">
                <a16:creationId xmlns:a16="http://schemas.microsoft.com/office/drawing/2014/main" id="{B1FFFAD7-C472-607B-526D-88A1616171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3" t="11534" r="68849" b="36862"/>
          <a:stretch/>
        </p:blipFill>
        <p:spPr bwMode="auto">
          <a:xfrm>
            <a:off x="8066189" y="4141037"/>
            <a:ext cx="741871" cy="727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2E318D03-4AAA-B4E8-246A-EA9DAC80E117}"/>
              </a:ext>
            </a:extLst>
          </p:cNvPr>
          <p:cNvSpPr/>
          <p:nvPr/>
        </p:nvSpPr>
        <p:spPr>
          <a:xfrm>
            <a:off x="4988278" y="1621714"/>
            <a:ext cx="1417320" cy="14078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C4F97F-2CAC-8D9E-53F4-39D1646527BC}"/>
              </a:ext>
            </a:extLst>
          </p:cNvPr>
          <p:cNvSpPr txBox="1"/>
          <p:nvPr/>
        </p:nvSpPr>
        <p:spPr>
          <a:xfrm>
            <a:off x="5672749" y="2017981"/>
            <a:ext cx="1417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Healthy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1DDA2C1-C472-3601-2B54-9A7C90EF0F63}"/>
              </a:ext>
            </a:extLst>
          </p:cNvPr>
          <p:cNvCxnSpPr>
            <a:cxnSpLocks/>
          </p:cNvCxnSpPr>
          <p:nvPr/>
        </p:nvCxnSpPr>
        <p:spPr>
          <a:xfrm flipV="1">
            <a:off x="6173726" y="2481347"/>
            <a:ext cx="0" cy="1714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itle 1">
            <a:extLst>
              <a:ext uri="{FF2B5EF4-FFF2-40B4-BE49-F238E27FC236}">
                <a16:creationId xmlns:a16="http://schemas.microsoft.com/office/drawing/2014/main" id="{38937976-CD5E-26F6-746E-B1ED3A2A0370}"/>
              </a:ext>
            </a:extLst>
          </p:cNvPr>
          <p:cNvSpPr txBox="1">
            <a:spLocks/>
          </p:cNvSpPr>
          <p:nvPr/>
        </p:nvSpPr>
        <p:spPr>
          <a:xfrm>
            <a:off x="1524001" y="0"/>
            <a:ext cx="5646404" cy="1097280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3000" b="1" dirty="0">
                <a:solidFill>
                  <a:srgbClr val="0483BF"/>
                </a:solidFill>
              </a:rPr>
              <a:t>Experts individually say:</a:t>
            </a:r>
          </a:p>
          <a:p>
            <a:pPr algn="ctr"/>
            <a:r>
              <a:rPr lang="en-US" sz="3000" b="1" dirty="0">
                <a:solidFill>
                  <a:srgbClr val="0483BF"/>
                </a:solidFill>
              </a:rPr>
              <a:t>Healthy or Unhealthy…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9A7C83-4C63-BCD3-923E-FE49295E1740}"/>
              </a:ext>
            </a:extLst>
          </p:cNvPr>
          <p:cNvSpPr txBox="1"/>
          <p:nvPr/>
        </p:nvSpPr>
        <p:spPr>
          <a:xfrm>
            <a:off x="1524000" y="6165118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500"/>
              </a:spcBef>
            </a:pPr>
            <a:r>
              <a:rPr lang="en-US" b="1" dirty="0">
                <a:solidFill>
                  <a:srgbClr val="0483B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…depending on who you trust?…</a:t>
            </a:r>
          </a:p>
        </p:txBody>
      </p:sp>
      <p:pic>
        <p:nvPicPr>
          <p:cNvPr id="7" name="Graphic 6" descr="User with solid fill">
            <a:extLst>
              <a:ext uri="{FF2B5EF4-FFF2-40B4-BE49-F238E27FC236}">
                <a16:creationId xmlns:a16="http://schemas.microsoft.com/office/drawing/2014/main" id="{EB9DD9EB-45A2-2604-2D9A-4DA571F3C9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22376" y="127467"/>
            <a:ext cx="658359" cy="658359"/>
          </a:xfrm>
          <a:prstGeom prst="rect">
            <a:avLst/>
          </a:prstGeom>
        </p:spPr>
      </p:pic>
      <p:pic>
        <p:nvPicPr>
          <p:cNvPr id="8" name="Graphic 7" descr="User with solid fill">
            <a:extLst>
              <a:ext uri="{FF2B5EF4-FFF2-40B4-BE49-F238E27FC236}">
                <a16:creationId xmlns:a16="http://schemas.microsoft.com/office/drawing/2014/main" id="{8690D1A1-E94A-2925-FBC6-50959F312C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9890" y="131641"/>
            <a:ext cx="658360" cy="658360"/>
          </a:xfrm>
          <a:prstGeom prst="rect">
            <a:avLst/>
          </a:prstGeom>
        </p:spPr>
      </p:pic>
      <p:pic>
        <p:nvPicPr>
          <p:cNvPr id="9" name="Picture 2" descr="1,348 Neutral Thumb Images, Stock Photos, 3D objects ...">
            <a:extLst>
              <a:ext uri="{FF2B5EF4-FFF2-40B4-BE49-F238E27FC236}">
                <a16:creationId xmlns:a16="http://schemas.microsoft.com/office/drawing/2014/main" id="{E36A47DD-5B6A-B11D-3309-675D631F36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434" t="11754" r="1719" b="36642"/>
          <a:stretch/>
        </p:blipFill>
        <p:spPr bwMode="auto">
          <a:xfrm>
            <a:off x="7907020" y="131641"/>
            <a:ext cx="216811" cy="21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1,348 Neutral Thumb Images, Stock Photos, 3D objects ...">
            <a:extLst>
              <a:ext uri="{FF2B5EF4-FFF2-40B4-BE49-F238E27FC236}">
                <a16:creationId xmlns:a16="http://schemas.microsoft.com/office/drawing/2014/main" id="{3CD131E9-4B64-DB90-91AD-4DE00EBF16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3" t="11534" r="68849" b="36862"/>
          <a:stretch/>
        </p:blipFill>
        <p:spPr bwMode="auto">
          <a:xfrm>
            <a:off x="9240904" y="117552"/>
            <a:ext cx="259324" cy="254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6EA66FB-2FA6-106B-B63D-E5580C91C903}"/>
              </a:ext>
            </a:extLst>
          </p:cNvPr>
          <p:cNvSpPr txBox="1"/>
          <p:nvPr/>
        </p:nvSpPr>
        <p:spPr>
          <a:xfrm>
            <a:off x="7207854" y="705104"/>
            <a:ext cx="1005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NRF 4:3:3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83EB4F-AC7B-4100-8151-FF71EAD25C5E}"/>
              </a:ext>
            </a:extLst>
          </p:cNvPr>
          <p:cNvSpPr txBox="1"/>
          <p:nvPr/>
        </p:nvSpPr>
        <p:spPr>
          <a:xfrm>
            <a:off x="8837879" y="669045"/>
            <a:ext cx="8358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FPro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EC7AB31-84DA-59E8-B8AC-907A7AE9CBEF}"/>
              </a:ext>
            </a:extLst>
          </p:cNvPr>
          <p:cNvSpPr/>
          <p:nvPr/>
        </p:nvSpPr>
        <p:spPr>
          <a:xfrm>
            <a:off x="1795221" y="1407856"/>
            <a:ext cx="8601558" cy="4362286"/>
          </a:xfrm>
          <a:prstGeom prst="roundRect">
            <a:avLst/>
          </a:prstGeom>
          <a:solidFill>
            <a:srgbClr val="F4B183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algn="ctr"/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292804-55CA-9E6A-6969-CA35597670E8}"/>
              </a:ext>
            </a:extLst>
          </p:cNvPr>
          <p:cNvSpPr txBox="1"/>
          <p:nvPr/>
        </p:nvSpPr>
        <p:spPr>
          <a:xfrm>
            <a:off x="8226196" y="256208"/>
            <a:ext cx="4738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694149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62B34A9A-6B71-C46B-C30E-CCF79A71DE4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58"/>
          <a:stretch/>
        </p:blipFill>
        <p:spPr>
          <a:xfrm>
            <a:off x="1841715" y="1802832"/>
            <a:ext cx="4206048" cy="34615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B796D60-30BA-7B23-673A-FE68FD2A2D6F}"/>
              </a:ext>
            </a:extLst>
          </p:cNvPr>
          <p:cNvSpPr txBox="1">
            <a:spLocks/>
          </p:cNvSpPr>
          <p:nvPr/>
        </p:nvSpPr>
        <p:spPr>
          <a:xfrm>
            <a:off x="1524000" y="0"/>
            <a:ext cx="6378724" cy="1097280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3000" b="1" dirty="0">
                <a:solidFill>
                  <a:srgbClr val="0483BF"/>
                </a:solidFill>
              </a:rPr>
              <a:t>The meta-NPS collectively says:</a:t>
            </a:r>
          </a:p>
          <a:p>
            <a:pPr algn="ctr"/>
            <a:r>
              <a:rPr lang="en-US" sz="3000" b="1" dirty="0">
                <a:solidFill>
                  <a:srgbClr val="0483BF"/>
                </a:solidFill>
              </a:rPr>
              <a:t>Likely Healthy or Uncertain…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C19CC8-8597-F182-8BFE-80F95EBBB862}"/>
              </a:ext>
            </a:extLst>
          </p:cNvPr>
          <p:cNvSpPr/>
          <p:nvPr/>
        </p:nvSpPr>
        <p:spPr>
          <a:xfrm>
            <a:off x="3465818" y="2808469"/>
            <a:ext cx="1522461" cy="109126"/>
          </a:xfrm>
          <a:prstGeom prst="rect">
            <a:avLst/>
          </a:prstGeom>
          <a:solidFill>
            <a:srgbClr val="7030A0">
              <a:alpha val="50196"/>
            </a:srgb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941F71-65A8-C927-229F-094129655753}"/>
              </a:ext>
            </a:extLst>
          </p:cNvPr>
          <p:cNvSpPr txBox="1"/>
          <p:nvPr/>
        </p:nvSpPr>
        <p:spPr>
          <a:xfrm rot="5400000">
            <a:off x="5687649" y="3754370"/>
            <a:ext cx="84908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Stability</a:t>
            </a:r>
            <a:r>
              <a:rPr lang="en-US" sz="1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range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03A818-0CA2-A1BA-D278-0A860D48CF2E}"/>
              </a:ext>
            </a:extLst>
          </p:cNvPr>
          <p:cNvSpPr txBox="1"/>
          <p:nvPr/>
        </p:nvSpPr>
        <p:spPr>
          <a:xfrm rot="5400000">
            <a:off x="5420039" y="2669365"/>
            <a:ext cx="970838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Stability</a:t>
            </a:r>
            <a:r>
              <a:rPr lang="en-US" sz="1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IQR</a:t>
            </a:r>
            <a:endParaRPr lang="en-US" sz="1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91961B-69DA-E9B2-A23C-FD65C1AA14BE}"/>
              </a:ext>
            </a:extLst>
          </p:cNvPr>
          <p:cNvSpPr/>
          <p:nvPr/>
        </p:nvSpPr>
        <p:spPr>
          <a:xfrm>
            <a:off x="6007989" y="2368160"/>
            <a:ext cx="113817" cy="661730"/>
          </a:xfrm>
          <a:prstGeom prst="rect">
            <a:avLst/>
          </a:prstGeom>
          <a:solidFill>
            <a:schemeClr val="accent2">
              <a:lumMod val="60000"/>
              <a:lumOff val="40000"/>
              <a:alpha val="50196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pic>
        <p:nvPicPr>
          <p:cNvPr id="23" name="Picture 2" descr="isolated style icon vector design ...">
            <a:extLst>
              <a:ext uri="{FF2B5EF4-FFF2-40B4-BE49-F238E27FC236}">
                <a16:creationId xmlns:a16="http://schemas.microsoft.com/office/drawing/2014/main" id="{AF578E6A-C83D-91EB-7B7E-F4B512ACC9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000" b="82222" l="16000" r="82667">
                        <a14:foregroundMark x1="27111" y1="25333" x2="27111" y2="25333"/>
                        <a14:foregroundMark x1="24444" y1="22222" x2="24444" y2="22222"/>
                        <a14:foregroundMark x1="16000" y1="27556" x2="16000" y2="27556"/>
                        <a14:foregroundMark x1="78667" y1="21333" x2="78667" y2="21333"/>
                        <a14:foregroundMark x1="83111" y1="29333" x2="83111" y2="29333"/>
                        <a14:foregroundMark x1="60000" y1="17333" x2="60000" y2="17333"/>
                        <a14:foregroundMark x1="76444" y1="18667" x2="64000" y2="16444"/>
                        <a14:foregroundMark x1="26222" y1="76000" x2="71111" y2="78222"/>
                        <a14:foregroundMark x1="29778" y1="80000" x2="71111" y2="80000"/>
                        <a14:foregroundMark x1="28444" y1="76889" x2="67556" y2="80444"/>
                        <a14:foregroundMark x1="30667" y1="78667" x2="67111" y2="8222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727" t="9572" r="13839" b="13533"/>
          <a:stretch/>
        </p:blipFill>
        <p:spPr bwMode="auto">
          <a:xfrm>
            <a:off x="2980106" y="4941576"/>
            <a:ext cx="308251" cy="322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EC7AB31-84DA-59E8-B8AC-907A7AE9CBEF}"/>
              </a:ext>
            </a:extLst>
          </p:cNvPr>
          <p:cNvSpPr/>
          <p:nvPr/>
        </p:nvSpPr>
        <p:spPr>
          <a:xfrm>
            <a:off x="1795221" y="1408176"/>
            <a:ext cx="8601559" cy="4362286"/>
          </a:xfrm>
          <a:prstGeom prst="roundRect">
            <a:avLst/>
          </a:prstGeom>
          <a:solidFill>
            <a:srgbClr val="F4B183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algn="ctr"/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3FB8CC-0250-C11F-9AF8-D098DD0A4B1F}"/>
              </a:ext>
            </a:extLst>
          </p:cNvPr>
          <p:cNvSpPr/>
          <p:nvPr/>
        </p:nvSpPr>
        <p:spPr>
          <a:xfrm>
            <a:off x="6226778" y="2278889"/>
            <a:ext cx="113817" cy="2230885"/>
          </a:xfrm>
          <a:prstGeom prst="rect">
            <a:avLst/>
          </a:prstGeom>
          <a:solidFill>
            <a:srgbClr val="0070C0">
              <a:alpha val="50196"/>
            </a:srgb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7D8793-C1BA-1037-1F99-99886D355FC8}"/>
              </a:ext>
            </a:extLst>
          </p:cNvPr>
          <p:cNvSpPr txBox="1"/>
          <p:nvPr/>
        </p:nvSpPr>
        <p:spPr>
          <a:xfrm>
            <a:off x="6300820" y="3012974"/>
            <a:ext cx="4266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Uncertain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1F6E66-CD1B-F889-5483-70799F4518C3}"/>
              </a:ext>
            </a:extLst>
          </p:cNvPr>
          <p:cNvSpPr txBox="1"/>
          <p:nvPr/>
        </p:nvSpPr>
        <p:spPr>
          <a:xfrm>
            <a:off x="6300820" y="3336583"/>
            <a:ext cx="427992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Meta score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↑ </a:t>
            </a:r>
            <a:r>
              <a:rPr lang="en-US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sz="15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health</a:t>
            </a:r>
            <a:r>
              <a:rPr lang="en-US" sz="15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↑ </a:t>
            </a:r>
          </a:p>
          <a:p>
            <a:pPr algn="ctr"/>
            <a:r>
              <a:rPr lang="en-US" sz="1500" dirty="0" err="1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Stability</a:t>
            </a:r>
            <a:r>
              <a:rPr lang="en-US" sz="1500" baseline="-25000" dirty="0" err="1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IQR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↓ = consensus ↓ = uncertain</a:t>
            </a:r>
          </a:p>
          <a:p>
            <a:pPr algn="ctr"/>
            <a:r>
              <a:rPr lang="en-US" sz="15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Stability</a:t>
            </a:r>
            <a:r>
              <a:rPr lang="en-US" sz="1500" baseline="-250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range</a:t>
            </a:r>
            <a:r>
              <a:rPr lang="en-US" sz="15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↓ = consensus ↓ = uncertain</a:t>
            </a:r>
          </a:p>
        </p:txBody>
      </p:sp>
      <p:pic>
        <p:nvPicPr>
          <p:cNvPr id="18" name="Picture 4" descr="192 Shrug Icon Stock Illustrations ...">
            <a:extLst>
              <a:ext uri="{FF2B5EF4-FFF2-40B4-BE49-F238E27FC236}">
                <a16:creationId xmlns:a16="http://schemas.microsoft.com/office/drawing/2014/main" id="{44A13A07-AD9F-5181-DB52-646F50EB48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5108" b="71429" l="21560" r="77523">
                        <a14:foregroundMark x1="46789" y1="27273" x2="46789" y2="27273"/>
                        <a14:foregroundMark x1="30734" y1="27706" x2="30734" y2="27706"/>
                        <a14:foregroundMark x1="66972" y1="28571" x2="66972" y2="28571"/>
                        <a14:foregroundMark x1="63761" y1="25108" x2="63761" y2="25108"/>
                        <a14:foregroundMark x1="62385" y1="36797" x2="62385" y2="36797"/>
                        <a14:foregroundMark x1="34862" y1="38961" x2="34862" y2="38961"/>
                        <a14:backgroundMark x1="31193" y1="28571" x2="31193" y2="28571"/>
                        <a14:backgroundMark x1="30275" y1="28571" x2="30275" y2="28571"/>
                        <a14:backgroundMark x1="48165" y1="45887" x2="48165" y2="458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492" t="23062" r="15544" b="22396"/>
          <a:stretch/>
        </p:blipFill>
        <p:spPr bwMode="auto">
          <a:xfrm>
            <a:off x="7979162" y="2368161"/>
            <a:ext cx="931653" cy="780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534552-0DE8-6E45-8C3D-6043632B5C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4073" y="27977"/>
            <a:ext cx="1041224" cy="1008121"/>
          </a:xfrm>
          <a:prstGeom prst="rect">
            <a:avLst/>
          </a:prstGeom>
        </p:spPr>
      </p:pic>
      <p:pic>
        <p:nvPicPr>
          <p:cNvPr id="20" name="Picture 4" descr="192 Shrug Icon Stock Illustrations ...">
            <a:extLst>
              <a:ext uri="{FF2B5EF4-FFF2-40B4-BE49-F238E27FC236}">
                <a16:creationId xmlns:a16="http://schemas.microsoft.com/office/drawing/2014/main" id="{26EAA95C-3315-3182-7F95-0C27ACBF2D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5108" b="71429" l="21560" r="77523">
                        <a14:foregroundMark x1="46789" y1="27273" x2="46789" y2="27273"/>
                        <a14:foregroundMark x1="30734" y1="27706" x2="30734" y2="27706"/>
                        <a14:foregroundMark x1="66972" y1="28571" x2="66972" y2="28571"/>
                        <a14:foregroundMark x1="63761" y1="25108" x2="63761" y2="25108"/>
                        <a14:foregroundMark x1="62385" y1="36797" x2="62385" y2="36797"/>
                        <a14:foregroundMark x1="34862" y1="38961" x2="34862" y2="38961"/>
                        <a14:backgroundMark x1="31193" y1="28571" x2="31193" y2="28571"/>
                        <a14:backgroundMark x1="30275" y1="28571" x2="30275" y2="28571"/>
                        <a14:backgroundMark x1="48165" y1="45887" x2="48165" y2="458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492" t="23062" r="15544" b="22396"/>
          <a:stretch/>
        </p:blipFill>
        <p:spPr bwMode="auto">
          <a:xfrm>
            <a:off x="8910814" y="340107"/>
            <a:ext cx="634018" cy="531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8784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10756-3E59-A45A-73AF-DBF55A6B7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C582218-7CE6-8033-93A3-197BCFAB18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72" t="8912" r="54315" b="34005"/>
          <a:stretch>
            <a:fillRect/>
          </a:stretch>
        </p:blipFill>
        <p:spPr>
          <a:xfrm>
            <a:off x="6010275" y="1571625"/>
            <a:ext cx="333375" cy="26098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C69349-544D-D2FF-C226-F0155258A3C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02994" y="5945820"/>
            <a:ext cx="831155" cy="739068"/>
          </a:xfrm>
          <a:prstGeom prst="rect">
            <a:avLst/>
          </a:prstGeom>
        </p:spPr>
      </p:pic>
      <p:pic>
        <p:nvPicPr>
          <p:cNvPr id="8" name="Picture 2" descr="Careers at NORC (@NORC_Jobs) / X">
            <a:extLst>
              <a:ext uri="{FF2B5EF4-FFF2-40B4-BE49-F238E27FC236}">
                <a16:creationId xmlns:a16="http://schemas.microsoft.com/office/drawing/2014/main" id="{A5A8CA57-6C84-4FC2-928C-8E666824E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32842" y="5942890"/>
            <a:ext cx="739958" cy="739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8982FD6-EF8B-4643-F13F-E900EA9CF7CA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12192000" cy="109728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0483B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Let’s take a look at more foods other than just whole wheat bread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D29841-4EBB-0D54-802F-87F3A43D7275}"/>
              </a:ext>
            </a:extLst>
          </p:cNvPr>
          <p:cNvSpPr txBox="1"/>
          <p:nvPr/>
        </p:nvSpPr>
        <p:spPr>
          <a:xfrm>
            <a:off x="0" y="568436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15 (75%) foods received </a:t>
            </a:r>
            <a:r>
              <a:rPr lang="en-US" sz="2000" dirty="0">
                <a:solidFill>
                  <a:srgbClr val="E972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Expert Classification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of “Uncertain”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***4 (20%) foods identified as a priority***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711F9D7-12E6-F724-B844-060246EAA9F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7086" y="2197441"/>
            <a:ext cx="1371283" cy="120091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7DC60E3-302F-098C-D3A8-1D78B6E2CF29}"/>
              </a:ext>
            </a:extLst>
          </p:cNvPr>
          <p:cNvSpPr/>
          <p:nvPr/>
        </p:nvSpPr>
        <p:spPr>
          <a:xfrm>
            <a:off x="2695575" y="1240156"/>
            <a:ext cx="9525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49A8F3-02C0-FF50-34A6-63AF4243B2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2" t="1662" r="89622" b="34005"/>
          <a:stretch>
            <a:fillRect/>
          </a:stretch>
        </p:blipFill>
        <p:spPr>
          <a:xfrm>
            <a:off x="2174430" y="1240156"/>
            <a:ext cx="616395" cy="29413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86476A-FFA8-2B86-C316-1478BEDF2D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81" t="2662" r="33584" b="89630"/>
          <a:stretch>
            <a:fillRect/>
          </a:stretch>
        </p:blipFill>
        <p:spPr>
          <a:xfrm>
            <a:off x="5638800" y="1285875"/>
            <a:ext cx="2790825" cy="352425"/>
          </a:xfrm>
          <a:prstGeom prst="rect">
            <a:avLst/>
          </a:prstGeom>
        </p:spPr>
      </p:pic>
      <p:pic>
        <p:nvPicPr>
          <p:cNvPr id="12" name="Picture 2" descr="isolated style icon vector design ...">
            <a:extLst>
              <a:ext uri="{FF2B5EF4-FFF2-40B4-BE49-F238E27FC236}">
                <a16:creationId xmlns:a16="http://schemas.microsoft.com/office/drawing/2014/main" id="{693E4C85-E589-C97A-22B7-82DA23A809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27" t="9572" r="13839" b="13533"/>
          <a:stretch/>
        </p:blipFill>
        <p:spPr bwMode="auto">
          <a:xfrm>
            <a:off x="5955710" y="4105921"/>
            <a:ext cx="442503" cy="463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4BA8179-A3C5-3264-F22E-430052F3F5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284" t="25767" r="6849" b="68664"/>
          <a:stretch>
            <a:fillRect/>
          </a:stretch>
        </p:blipFill>
        <p:spPr>
          <a:xfrm>
            <a:off x="9139237" y="2212363"/>
            <a:ext cx="1093605" cy="25461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5403681-8E7C-5AF0-1FD9-71BC8A4D55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7" t="62367" r="18917" b="1137"/>
          <a:stretch>
            <a:fillRect/>
          </a:stretch>
        </p:blipFill>
        <p:spPr>
          <a:xfrm>
            <a:off x="1857375" y="4015578"/>
            <a:ext cx="8048625" cy="166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473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AF871-9945-0D6A-494C-4531FE187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7EEBAA40-FA0A-DE8F-E1DD-77C9AE9F01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72" t="8912" r="54315" b="34005"/>
          <a:stretch>
            <a:fillRect/>
          </a:stretch>
        </p:blipFill>
        <p:spPr>
          <a:xfrm>
            <a:off x="6010275" y="1571625"/>
            <a:ext cx="333375" cy="26098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905900-ACFA-CB5D-48FF-5C2DD58F9A2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02994" y="5945820"/>
            <a:ext cx="831155" cy="739068"/>
          </a:xfrm>
          <a:prstGeom prst="rect">
            <a:avLst/>
          </a:prstGeom>
        </p:spPr>
      </p:pic>
      <p:pic>
        <p:nvPicPr>
          <p:cNvPr id="8" name="Picture 2" descr="Careers at NORC (@NORC_Jobs) / X">
            <a:extLst>
              <a:ext uri="{FF2B5EF4-FFF2-40B4-BE49-F238E27FC236}">
                <a16:creationId xmlns:a16="http://schemas.microsoft.com/office/drawing/2014/main" id="{BA183AE1-9B09-14A5-6E47-5DB7D8D6F9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32842" y="5942890"/>
            <a:ext cx="739958" cy="739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DE0C93D-42E5-8119-2BCB-45ED87F209AB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12192000" cy="109728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0483B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Apple, Baked potato are healthy, Fries are neural, and soda is unhealthy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4BBE84-D64A-18DA-A581-DF2CBC89E8A6}"/>
              </a:ext>
            </a:extLst>
          </p:cNvPr>
          <p:cNvSpPr txBox="1"/>
          <p:nvPr/>
        </p:nvSpPr>
        <p:spPr>
          <a:xfrm>
            <a:off x="0" y="568436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15 (75%) foods received </a:t>
            </a:r>
            <a:r>
              <a:rPr lang="en-US" sz="2000" dirty="0">
                <a:solidFill>
                  <a:srgbClr val="E972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Expert Classification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of “Uncertain”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***4 (20%) foods identified as a priority***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8DF17AA-F690-EC2F-C92B-F95C099544C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7086" y="2197441"/>
            <a:ext cx="1371283" cy="120091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E2D7E80-C247-B0D3-5A89-F30F6E39569A}"/>
              </a:ext>
            </a:extLst>
          </p:cNvPr>
          <p:cNvSpPr txBox="1"/>
          <p:nvPr/>
        </p:nvSpPr>
        <p:spPr>
          <a:xfrm>
            <a:off x="2174430" y="5128127"/>
            <a:ext cx="3614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0421F4-0F65-07CA-668C-A60F14CBE028}"/>
              </a:ext>
            </a:extLst>
          </p:cNvPr>
          <p:cNvSpPr/>
          <p:nvPr/>
        </p:nvSpPr>
        <p:spPr>
          <a:xfrm>
            <a:off x="2695575" y="1240156"/>
            <a:ext cx="9525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834120-759C-7529-343C-92B1217605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2" t="1662" r="89622" b="34005"/>
          <a:stretch>
            <a:fillRect/>
          </a:stretch>
        </p:blipFill>
        <p:spPr>
          <a:xfrm>
            <a:off x="2174430" y="1240156"/>
            <a:ext cx="616395" cy="29413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E5CBE2-EF86-EF12-0BC5-210D797FF9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81" t="2662" r="33584" b="89630"/>
          <a:stretch>
            <a:fillRect/>
          </a:stretch>
        </p:blipFill>
        <p:spPr>
          <a:xfrm>
            <a:off x="5638800" y="1285875"/>
            <a:ext cx="2790825" cy="352425"/>
          </a:xfrm>
          <a:prstGeom prst="rect">
            <a:avLst/>
          </a:prstGeom>
        </p:spPr>
      </p:pic>
      <p:pic>
        <p:nvPicPr>
          <p:cNvPr id="12" name="Picture 2" descr="isolated style icon vector design ...">
            <a:extLst>
              <a:ext uri="{FF2B5EF4-FFF2-40B4-BE49-F238E27FC236}">
                <a16:creationId xmlns:a16="http://schemas.microsoft.com/office/drawing/2014/main" id="{411E079D-A4CD-4A5C-4DBD-D3BDAE2C57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27" t="9572" r="13839" b="13533"/>
          <a:stretch/>
        </p:blipFill>
        <p:spPr bwMode="auto">
          <a:xfrm>
            <a:off x="5955710" y="4105921"/>
            <a:ext cx="442503" cy="463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6DFFB8F-81CF-BF99-A359-1FC27E4BBB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284" t="25766" r="1863" b="52623"/>
          <a:stretch>
            <a:fillRect/>
          </a:stretch>
        </p:blipFill>
        <p:spPr>
          <a:xfrm>
            <a:off x="9139237" y="2212363"/>
            <a:ext cx="1595438" cy="9880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B3C875-CE0B-7CBC-0A86-A55B8538BE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01" t="2761" r="61739" b="7436"/>
          <a:stretch>
            <a:fillRect/>
          </a:stretch>
        </p:blipFill>
        <p:spPr>
          <a:xfrm>
            <a:off x="4038601" y="1285875"/>
            <a:ext cx="1545636" cy="410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094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ECD27-E8E4-28AD-7EAC-C48441FE8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FB6FC3E-52BD-B6BB-5F7B-CBDB84B098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369" y="1164136"/>
            <a:ext cx="10058420" cy="45720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BF748A-B924-61AF-94D2-4FAB8D5782E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02994" y="5945820"/>
            <a:ext cx="831155" cy="739068"/>
          </a:xfrm>
          <a:prstGeom prst="rect">
            <a:avLst/>
          </a:prstGeom>
        </p:spPr>
      </p:pic>
      <p:pic>
        <p:nvPicPr>
          <p:cNvPr id="8" name="Picture 2" descr="Careers at NORC (@NORC_Jobs) / X">
            <a:extLst>
              <a:ext uri="{FF2B5EF4-FFF2-40B4-BE49-F238E27FC236}">
                <a16:creationId xmlns:a16="http://schemas.microsoft.com/office/drawing/2014/main" id="{1112A684-CE20-EA27-38A6-689674570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32842" y="5942890"/>
            <a:ext cx="739958" cy="739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5374A60-F353-D6E6-4FD0-74B3F707FFCC}"/>
              </a:ext>
            </a:extLst>
          </p:cNvPr>
          <p:cNvSpPr txBox="1">
            <a:spLocks/>
          </p:cNvSpPr>
          <p:nvPr/>
        </p:nvSpPr>
        <p:spPr>
          <a:xfrm>
            <a:off x="0" y="-1"/>
            <a:ext cx="12192000" cy="109728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0483B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meta-NPS uncovers large disagreements within harmonized expert ratings across foods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B8B390-E8F9-B62B-8321-A214E6F07277}"/>
              </a:ext>
            </a:extLst>
          </p:cNvPr>
          <p:cNvSpPr txBox="1"/>
          <p:nvPr/>
        </p:nvSpPr>
        <p:spPr>
          <a:xfrm>
            <a:off x="0" y="568436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15 (75%) foods received </a:t>
            </a:r>
            <a:r>
              <a:rPr lang="en-US" sz="2000" dirty="0">
                <a:solidFill>
                  <a:srgbClr val="E972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Expert Classification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of “Uncertain”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***4 (20%) foods identified as a priority***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DFFD9AE-BDC4-9260-AE9F-8F0E7FA2D736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7086" y="2197441"/>
            <a:ext cx="1371283" cy="120091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D73D7F5-CE2E-72B0-35B4-CD007DFA5887}"/>
              </a:ext>
            </a:extLst>
          </p:cNvPr>
          <p:cNvSpPr txBox="1"/>
          <p:nvPr/>
        </p:nvSpPr>
        <p:spPr>
          <a:xfrm>
            <a:off x="2174430" y="5128127"/>
            <a:ext cx="3614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34B686-D1A9-BE4E-1FB2-74025DFCA14F}"/>
              </a:ext>
            </a:extLst>
          </p:cNvPr>
          <p:cNvSpPr txBox="1"/>
          <p:nvPr/>
        </p:nvSpPr>
        <p:spPr>
          <a:xfrm>
            <a:off x="6257783" y="4602840"/>
            <a:ext cx="3614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383EED-F280-358C-A297-37D6922FBB7D}"/>
              </a:ext>
            </a:extLst>
          </p:cNvPr>
          <p:cNvSpPr txBox="1"/>
          <p:nvPr/>
        </p:nvSpPr>
        <p:spPr>
          <a:xfrm>
            <a:off x="6555758" y="4728017"/>
            <a:ext cx="3614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B7D389-2750-4C4A-9226-FC73D6FF7DBB}"/>
              </a:ext>
            </a:extLst>
          </p:cNvPr>
          <p:cNvSpPr txBox="1"/>
          <p:nvPr/>
        </p:nvSpPr>
        <p:spPr>
          <a:xfrm>
            <a:off x="5884453" y="4679475"/>
            <a:ext cx="3614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3461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984</Words>
  <Application>Microsoft Office PowerPoint</Application>
  <PresentationFormat>Widescreen</PresentationFormat>
  <Paragraphs>69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 Marino</dc:creator>
  <cp:lastModifiedBy>Josh Marino</cp:lastModifiedBy>
  <cp:revision>1</cp:revision>
  <dcterms:created xsi:type="dcterms:W3CDTF">2026-06-29T02:07:28Z</dcterms:created>
  <dcterms:modified xsi:type="dcterms:W3CDTF">2026-06-29T02:15:34Z</dcterms:modified>
</cp:coreProperties>
</file>